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2E2F0"/>
                </a:solidFill>
                <a:latin typeface="Calibri"/>
              </a:defRPr>
            </a:pPr>
            <a:r>
              <a:t>🎯 Ghost Resource Exterminator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4B5FD"/>
                </a:solidFill>
                <a:latin typeface="Calibri"/>
              </a:defRPr>
            </a:pPr>
            <a:r>
              <a:t>Project Architecture &amp; Design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D8FC0"/>
                </a:solidFill>
                <a:latin typeface="Calibri"/>
              </a:defRPr>
            </a:pPr>
            <a:r>
              <a:t>Data Flow  •  Module Diagram  •  ER Diagram  •  Table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98167" y="4846320"/>
            <a:ext cx="1554480" cy="411480"/>
          </a:xfrm>
          <a:prstGeom prst="roundRect">
            <a:avLst>
              <a:gd name="adj" fmla="val 5000"/>
            </a:avLst>
          </a:prstGeom>
          <a:solidFill>
            <a:srgbClr val="0D0D20"/>
          </a:solidFill>
          <a:ln w="19050">
            <a:solidFill>
              <a:srgbClr val="8BE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8BE9FD"/>
                </a:solidFill>
                <a:latin typeface="Calibri"/>
              </a:defRPr>
            </a:pPr>
            <a:r>
              <a:t>Python 3.11+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26967" y="4846320"/>
            <a:ext cx="1554480" cy="411480"/>
          </a:xfrm>
          <a:prstGeom prst="roundRect">
            <a:avLst>
              <a:gd name="adj" fmla="val 5000"/>
            </a:avLst>
          </a:prstGeom>
          <a:solidFill>
            <a:srgbClr val="0D0D20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9F43"/>
                </a:solidFill>
                <a:latin typeface="Calibri"/>
              </a:defRPr>
            </a:pPr>
            <a:r>
              <a:t>Boto3 / AWS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55767" y="4846320"/>
            <a:ext cx="1554480" cy="411480"/>
          </a:xfrm>
          <a:prstGeom prst="roundRect">
            <a:avLst>
              <a:gd name="adj" fmla="val 5000"/>
            </a:avLst>
          </a:prstGeom>
          <a:solidFill>
            <a:srgbClr val="0D0D20"/>
          </a:solidFill>
          <a:ln w="19050">
            <a:solidFill>
              <a:srgbClr val="21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1C55D"/>
                </a:solidFill>
                <a:latin typeface="Calibri"/>
              </a:defRPr>
            </a:pPr>
            <a:r>
              <a:t>SQLite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84567" y="4846320"/>
            <a:ext cx="1554480" cy="411480"/>
          </a:xfrm>
          <a:prstGeom prst="roundRect">
            <a:avLst>
              <a:gd name="adj" fmla="val 5000"/>
            </a:avLst>
          </a:prstGeom>
          <a:solidFill>
            <a:srgbClr val="0D0D20"/>
          </a:solidFill>
          <a:ln w="1905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4B4B"/>
                </a:solidFill>
                <a:latin typeface="Calibri"/>
              </a:defRPr>
            </a:pPr>
            <a:r>
              <a:t>Streamlit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13367" y="4846320"/>
            <a:ext cx="1554480" cy="411480"/>
          </a:xfrm>
          <a:prstGeom prst="roundRect">
            <a:avLst>
              <a:gd name="adj" fmla="val 5000"/>
            </a:avLst>
          </a:prstGeom>
          <a:solidFill>
            <a:srgbClr val="0D0D20"/>
          </a:solidFill>
          <a:ln w="19050">
            <a:solidFill>
              <a:srgbClr val="F1F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1FA8C"/>
                </a:solidFill>
                <a:latin typeface="Calibri"/>
              </a:defRPr>
            </a:pPr>
            <a:r>
              <a:t>CloudWatch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0" y="6803136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2F0"/>
                </a:solidFill>
                <a:latin typeface="Calibri"/>
              </a:defRPr>
            </a:pPr>
            <a:r>
              <a:t>📊 Data Flow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7A"/>
                </a:solidFill>
                <a:latin typeface="Calibri"/>
              </a:defRPr>
            </a:pPr>
            <a:r>
              <a:t>How data moves from AWS Cloud → Scanners → SQLite → Dashboard → 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2286000" cy="411480"/>
          </a:xfrm>
          <a:prstGeom prst="roundRect">
            <a:avLst>
              <a:gd name="adj" fmla="val 5000"/>
            </a:avLst>
          </a:prstGeom>
          <a:solidFill>
            <a:srgbClr val="0D0D20"/>
          </a:solidFill>
          <a:ln w="12700">
            <a:solidFill>
              <a:srgbClr val="8BE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8BE9FD"/>
                </a:solidFill>
                <a:latin typeface="Calibri"/>
              </a:defRPr>
            </a:pPr>
            <a:r>
              <a:t>☁️  AWS CLOUD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2103120" cy="411480"/>
          </a:xfrm>
          <a:prstGeom prst="roundRect">
            <a:avLst>
              <a:gd name="adj" fmla="val 5000"/>
            </a:avLst>
          </a:prstGeom>
          <a:solidFill>
            <a:srgbClr val="0A0A1A"/>
          </a:solidFill>
          <a:ln w="12700">
            <a:solidFill>
              <a:srgbClr val="8BE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8BE9FD"/>
                </a:solidFill>
                <a:latin typeface="Calibri"/>
              </a:defRPr>
            </a:pPr>
            <a:r>
              <a:t>💻 EC2 Instances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514600"/>
            <a:ext cx="2103120" cy="411480"/>
          </a:xfrm>
          <a:prstGeom prst="roundRect">
            <a:avLst>
              <a:gd name="adj" fmla="val 5000"/>
            </a:avLst>
          </a:prstGeom>
          <a:solidFill>
            <a:srgbClr val="0A0A1A"/>
          </a:solidFill>
          <a:ln w="12700">
            <a:solidFill>
              <a:srgbClr val="8BE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8BE9FD"/>
                </a:solidFill>
                <a:latin typeface="Calibri"/>
              </a:defRPr>
            </a:pPr>
            <a:r>
              <a:t>📈 CloudWatch Metrics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17520"/>
            <a:ext cx="2103120" cy="411480"/>
          </a:xfrm>
          <a:prstGeom prst="roundRect">
            <a:avLst>
              <a:gd name="adj" fmla="val 5000"/>
            </a:avLst>
          </a:prstGeom>
          <a:solidFill>
            <a:srgbClr val="0A0A1A"/>
          </a:solidFill>
          <a:ln w="12700">
            <a:solidFill>
              <a:srgbClr val="8BE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8BE9FD"/>
                </a:solidFill>
                <a:latin typeface="Calibri"/>
              </a:defRPr>
            </a:pPr>
            <a:r>
              <a:t>💽 EBS Volumes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520440"/>
            <a:ext cx="2103120" cy="411480"/>
          </a:xfrm>
          <a:prstGeom prst="roundRect">
            <a:avLst>
              <a:gd name="adj" fmla="val 5000"/>
            </a:avLst>
          </a:prstGeom>
          <a:solidFill>
            <a:srgbClr val="0A0A1A"/>
          </a:solidFill>
          <a:ln w="12700">
            <a:solidFill>
              <a:srgbClr val="8BE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8BE9FD"/>
                </a:solidFill>
                <a:latin typeface="Calibri"/>
              </a:defRPr>
            </a:pPr>
            <a:r>
              <a:t>📸 EBS Snapshots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103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C47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463040"/>
            <a:ext cx="2011680" cy="411480"/>
          </a:xfrm>
          <a:prstGeom prst="roundRect">
            <a:avLst>
              <a:gd name="adj" fmla="val 5000"/>
            </a:avLst>
          </a:prstGeom>
          <a:solidFill>
            <a:srgbClr val="0D0D20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9F43"/>
                </a:solidFill>
                <a:latin typeface="Calibri"/>
              </a:defRPr>
            </a:pPr>
            <a:r>
              <a:t>⚙️  CONFIGURATION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2011680"/>
            <a:ext cx="1828800" cy="411480"/>
          </a:xfrm>
          <a:prstGeom prst="roundRect">
            <a:avLst>
              <a:gd name="adj" fmla="val 5000"/>
            </a:avLst>
          </a:prstGeom>
          <a:solidFill>
            <a:srgbClr val="0A0A1A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9F43"/>
                </a:solidFill>
                <a:latin typeface="Calibri"/>
              </a:defRPr>
            </a:pPr>
            <a:r>
              <a:t>🔐 .env file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2514600"/>
            <a:ext cx="1828800" cy="411480"/>
          </a:xfrm>
          <a:prstGeom prst="roundRect">
            <a:avLst>
              <a:gd name="adj" fmla="val 5000"/>
            </a:avLst>
          </a:prstGeom>
          <a:solidFill>
            <a:srgbClr val="0A0A1A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9F43"/>
                </a:solidFill>
                <a:latin typeface="Calibri"/>
              </a:defRPr>
            </a:pPr>
            <a:r>
              <a:t>⚙️ config.py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103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C47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1463040"/>
            <a:ext cx="2194560" cy="411480"/>
          </a:xfrm>
          <a:prstGeom prst="roundRect">
            <a:avLst>
              <a:gd name="adj" fmla="val 5000"/>
            </a:avLst>
          </a:prstGeom>
          <a:solidFill>
            <a:srgbClr val="0D0D20"/>
          </a:solidFill>
          <a:ln w="12700">
            <a:solidFill>
              <a:srgbClr val="F1F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1FA8C"/>
                </a:solidFill>
                <a:latin typeface="Calibri"/>
              </a:defRPr>
            </a:pPr>
            <a:r>
              <a:t>🔍  SCANNER LAYER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2011680"/>
            <a:ext cx="2011680" cy="411480"/>
          </a:xfrm>
          <a:prstGeom prst="roundRect">
            <a:avLst>
              <a:gd name="adj" fmla="val 5000"/>
            </a:avLst>
          </a:prstGeom>
          <a:solidFill>
            <a:srgbClr val="0A0A1A"/>
          </a:solidFill>
          <a:ln w="12700">
            <a:solidFill>
              <a:srgbClr val="F1F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1FA8C"/>
                </a:solidFill>
                <a:latin typeface="Calibri"/>
              </a:defRPr>
            </a:pPr>
            <a:r>
              <a:t>💻 ec2_scanner.py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2514600"/>
            <a:ext cx="2011680" cy="411480"/>
          </a:xfrm>
          <a:prstGeom prst="roundRect">
            <a:avLst>
              <a:gd name="adj" fmla="val 5000"/>
            </a:avLst>
          </a:prstGeom>
          <a:solidFill>
            <a:srgbClr val="0A0A1A"/>
          </a:solidFill>
          <a:ln w="12700">
            <a:solidFill>
              <a:srgbClr val="F1F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1FA8C"/>
                </a:solidFill>
                <a:latin typeface="Calibri"/>
              </a:defRPr>
            </a:pPr>
            <a:r>
              <a:t>💽 ebs_scanner.py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3017520"/>
            <a:ext cx="2011680" cy="411480"/>
          </a:xfrm>
          <a:prstGeom prst="roundRect">
            <a:avLst>
              <a:gd name="adj" fmla="val 5000"/>
            </a:avLst>
          </a:prstGeom>
          <a:solidFill>
            <a:srgbClr val="0A0A1A"/>
          </a:solidFill>
          <a:ln w="12700">
            <a:solidFill>
              <a:srgbClr val="F1F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1FA8C"/>
                </a:solidFill>
                <a:latin typeface="Calibri"/>
              </a:defRPr>
            </a:pPr>
            <a:r>
              <a:t>📸 snapshot_scanner.py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103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C47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1463040"/>
            <a:ext cx="2103120" cy="411480"/>
          </a:xfrm>
          <a:prstGeom prst="roundRect">
            <a:avLst>
              <a:gd name="adj" fmla="val 5000"/>
            </a:avLst>
          </a:prstGeom>
          <a:solidFill>
            <a:srgbClr val="0D0D20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C4B5FD"/>
                </a:solidFill>
                <a:latin typeface="Calibri"/>
              </a:defRPr>
            </a:pPr>
            <a:r>
              <a:t>🧠  ORCHESTRATOR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95360" y="2011680"/>
            <a:ext cx="1920240" cy="411480"/>
          </a:xfrm>
          <a:prstGeom prst="roundRect">
            <a:avLst>
              <a:gd name="adj" fmla="val 5000"/>
            </a:avLst>
          </a:prstGeom>
          <a:solidFill>
            <a:srgbClr val="0A0A1A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4B5FD"/>
                </a:solidFill>
                <a:latin typeface="Calibri"/>
              </a:defRPr>
            </a:pPr>
            <a:r>
              <a:t>🧟 zombie_detector.py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5360" y="2514600"/>
            <a:ext cx="1920240" cy="411480"/>
          </a:xfrm>
          <a:prstGeom prst="roundRect">
            <a:avLst>
              <a:gd name="adj" fmla="val 5000"/>
            </a:avLst>
          </a:prstGeom>
          <a:solidFill>
            <a:srgbClr val="0A0A1A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4B5FD"/>
                </a:solidFill>
                <a:latin typeface="Calibri"/>
              </a:defRPr>
            </a:pPr>
            <a:r>
              <a:t>▶️ run_scan.py (CLI)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95360" y="3017520"/>
            <a:ext cx="1920240" cy="411480"/>
          </a:xfrm>
          <a:prstGeom prst="roundRect">
            <a:avLst>
              <a:gd name="adj" fmla="val 5000"/>
            </a:avLst>
          </a:prstGeom>
          <a:solidFill>
            <a:srgbClr val="0A0A1A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4B5FD"/>
                </a:solidFill>
                <a:latin typeface="Calibri"/>
              </a:defRPr>
            </a:pPr>
            <a:r>
              <a:t>⏰ scheduler.py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393192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0D0D20"/>
          </a:solidFill>
          <a:ln w="12700">
            <a:solidFill>
              <a:srgbClr val="21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1C55D"/>
                </a:solidFill>
                <a:latin typeface="Calibri"/>
              </a:defRPr>
            </a:pPr>
            <a:r>
              <a:t>💾  PERSISTENCE LAYER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480560"/>
            <a:ext cx="2560320" cy="411480"/>
          </a:xfrm>
          <a:prstGeom prst="roundRect">
            <a:avLst>
              <a:gd name="adj" fmla="val 5000"/>
            </a:avLst>
          </a:prstGeom>
          <a:solidFill>
            <a:srgbClr val="0A0A1A"/>
          </a:solidFill>
          <a:ln w="12700">
            <a:solidFill>
              <a:srgbClr val="21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1C55D"/>
                </a:solidFill>
                <a:latin typeface="Calibri"/>
              </a:defRPr>
            </a:pPr>
            <a:r>
              <a:t>🗄️ db.py — CRUD Operations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983480"/>
            <a:ext cx="2560320" cy="411480"/>
          </a:xfrm>
          <a:prstGeom prst="roundRect">
            <a:avLst>
              <a:gd name="adj" fmla="val 5000"/>
            </a:avLst>
          </a:prstGeom>
          <a:solidFill>
            <a:srgbClr val="0A0A1A"/>
          </a:solidFill>
          <a:ln w="12700">
            <a:solidFill>
              <a:srgbClr val="21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1C55D"/>
                </a:solidFill>
                <a:latin typeface="Calibri"/>
              </a:defRPr>
            </a:pPr>
            <a:r>
              <a:t>💾 zombie_resources.db (SQLite)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44805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C47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0" y="3931920"/>
            <a:ext cx="2926080" cy="411480"/>
          </a:xfrm>
          <a:prstGeom prst="roundRect">
            <a:avLst>
              <a:gd name="adj" fmla="val 5000"/>
            </a:avLst>
          </a:prstGeom>
          <a:solidFill>
            <a:srgbClr val="0D0D20"/>
          </a:solidFill>
          <a:ln w="1270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4B4B"/>
                </a:solidFill>
                <a:latin typeface="Calibri"/>
              </a:defRPr>
            </a:pPr>
            <a:r>
              <a:t>🖥️  DASHBOARD + CLEANUP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49039" y="448056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0A0A1A"/>
          </a:solidFill>
          <a:ln w="1270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4B4B"/>
                </a:solidFill>
                <a:latin typeface="Calibri"/>
              </a:defRPr>
            </a:pPr>
            <a:r>
              <a:t>🌐 dashboard/app.py (Streamlit)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49039" y="498348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0A0A1A"/>
          </a:solidFill>
          <a:ln w="1270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4B4B"/>
                </a:solidFill>
                <a:latin typeface="Calibri"/>
              </a:defRPr>
            </a:pPr>
            <a:r>
              <a:t>🧩 dashboard/components.py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49039" y="548640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0A0A1A"/>
          </a:solidFill>
          <a:ln w="1270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4B4B"/>
                </a:solidFill>
                <a:latin typeface="Calibri"/>
              </a:defRPr>
            </a:pPr>
            <a:r>
              <a:t>🗑️ cleanup.py (Terminate/Delete)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4805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C47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0" y="3931920"/>
            <a:ext cx="2560320" cy="411480"/>
          </a:xfrm>
          <a:prstGeom prst="roundRect">
            <a:avLst>
              <a:gd name="adj" fmla="val 5000"/>
            </a:avLst>
          </a:prstGeom>
          <a:solidFill>
            <a:srgbClr val="0D0D20"/>
          </a:solidFill>
          <a:ln w="12700">
            <a:solidFill>
              <a:srgbClr val="6C4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C4B5FD"/>
                </a:solidFill>
                <a:latin typeface="Calibri"/>
              </a:defRPr>
            </a:pPr>
            <a:r>
              <a:t>📊  USER OUTPUT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23760" y="4480560"/>
            <a:ext cx="2377440" cy="411480"/>
          </a:xfrm>
          <a:prstGeom prst="roundRect">
            <a:avLst>
              <a:gd name="adj" fmla="val 5000"/>
            </a:avLst>
          </a:prstGeom>
          <a:solidFill>
            <a:srgbClr val="0A0A1A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4B5FD"/>
                </a:solidFill>
                <a:latin typeface="Calibri"/>
              </a:defRPr>
            </a:pPr>
            <a:r>
              <a:t>🖥️ Terminal Summary Report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23760" y="4983480"/>
            <a:ext cx="2377440" cy="411480"/>
          </a:xfrm>
          <a:prstGeom prst="roundRect">
            <a:avLst>
              <a:gd name="adj" fmla="val 5000"/>
            </a:avLst>
          </a:prstGeom>
          <a:solidFill>
            <a:srgbClr val="0A0A1A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4B5FD"/>
                </a:solidFill>
                <a:latin typeface="Calibri"/>
              </a:defRPr>
            </a:pPr>
            <a:r>
              <a:t>🌐 Streamlit Web 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3337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C47FF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3337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C47FF"/>
                </a:solidFill>
                <a:latin typeface="Calibri"/>
              </a:defRPr>
            </a:pPr>
            <a:r>
              <a:t>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2F0"/>
                </a:solidFill>
                <a:latin typeface="Calibri"/>
              </a:defRPr>
            </a:pPr>
            <a:r>
              <a:t>🔗 Module Dependency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7A"/>
                </a:solidFill>
                <a:latin typeface="Calibri"/>
              </a:defRPr>
            </a:pPr>
            <a:r>
              <a:t>Import relationships between all Python modules (arrows show 'depends on')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5303520"/>
            <a:ext cx="3200400" cy="640080"/>
          </a:xfrm>
          <a:prstGeom prst="roundRect">
            <a:avLst>
              <a:gd name="adj" fmla="val 5000"/>
            </a:avLst>
          </a:prstGeom>
          <a:solidFill>
            <a:srgbClr val="0D0D20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9F43"/>
                </a:solidFill>
                <a:latin typeface="Calibri"/>
              </a:defRPr>
            </a:pPr>
            <a:r>
              <a:t>⚙️ config.py</a:t>
            </a:r>
            <a:br/>
            <a:r>
              <a:t>Credentials, thresholds, regions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5303520"/>
            <a:ext cx="3200400" cy="640080"/>
          </a:xfrm>
          <a:prstGeom prst="roundRect">
            <a:avLst>
              <a:gd name="adj" fmla="val 5000"/>
            </a:avLst>
          </a:prstGeom>
          <a:solidFill>
            <a:srgbClr val="0D0D20"/>
          </a:solidFill>
          <a:ln w="12700">
            <a:solidFill>
              <a:srgbClr val="21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1C55D"/>
                </a:solidFill>
                <a:latin typeface="Calibri"/>
              </a:defRPr>
            </a:pPr>
            <a:r>
              <a:t>💾 db.py</a:t>
            </a:r>
            <a:br/>
            <a:r>
              <a:t>SQLite CRUD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5166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A5A7A"/>
                </a:solidFill>
                <a:latin typeface="Calibri"/>
              </a:defRPr>
            </a:pPr>
            <a:r>
              <a:t>FOUNDATION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20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5A7A"/>
                </a:solidFill>
                <a:latin typeface="Calibri"/>
              </a:defRPr>
            </a:pPr>
            <a:r>
              <a:t>SCANNER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2560320" cy="594360"/>
          </a:xfrm>
          <a:prstGeom prst="roundRect">
            <a:avLst>
              <a:gd name="adj" fmla="val 5000"/>
            </a:avLst>
          </a:prstGeom>
          <a:solidFill>
            <a:srgbClr val="0D0D20"/>
          </a:solidFill>
          <a:ln w="12700">
            <a:solidFill>
              <a:srgbClr val="F1F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1FA8C"/>
                </a:solidFill>
                <a:latin typeface="Calibri"/>
              </a:defRPr>
            </a:pPr>
            <a:r>
              <a:t>💻 ec2_scanner.py</a:t>
            </a:r>
            <a:br/>
            <a:r>
              <a:t>EC2 + CloudWatch scan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3794760"/>
            <a:ext cx="2560320" cy="594360"/>
          </a:xfrm>
          <a:prstGeom prst="roundRect">
            <a:avLst>
              <a:gd name="adj" fmla="val 5000"/>
            </a:avLst>
          </a:prstGeom>
          <a:solidFill>
            <a:srgbClr val="0D0D20"/>
          </a:solidFill>
          <a:ln w="12700">
            <a:solidFill>
              <a:srgbClr val="F1F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1FA8C"/>
                </a:solidFill>
                <a:latin typeface="Calibri"/>
              </a:defRPr>
            </a:pPr>
            <a:r>
              <a:t>💽 ebs_scanner.py</a:t>
            </a:r>
            <a:br/>
            <a:r>
              <a:t>Unattached EBS scan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794760"/>
            <a:ext cx="2560320" cy="594360"/>
          </a:xfrm>
          <a:prstGeom prst="roundRect">
            <a:avLst>
              <a:gd name="adj" fmla="val 5000"/>
            </a:avLst>
          </a:prstGeom>
          <a:solidFill>
            <a:srgbClr val="0D0D20"/>
          </a:solidFill>
          <a:ln w="12700">
            <a:solidFill>
              <a:srgbClr val="F1F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1FA8C"/>
                </a:solidFill>
                <a:latin typeface="Calibri"/>
              </a:defRPr>
            </a:pPr>
            <a:r>
              <a:t>📸 snapshot_scanner.py</a:t>
            </a:r>
            <a:br/>
            <a:r>
              <a:t>Old snapshot scan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3794760"/>
            <a:ext cx="2560320" cy="594360"/>
          </a:xfrm>
          <a:prstGeom prst="roundRect">
            <a:avLst>
              <a:gd name="adj" fmla="val 5000"/>
            </a:avLst>
          </a:prstGeom>
          <a:solidFill>
            <a:srgbClr val="0D0D20"/>
          </a:solidFill>
          <a:ln w="12700">
            <a:solidFill>
              <a:srgbClr val="F1F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1FA8C"/>
                </a:solidFill>
                <a:latin typeface="Calibri"/>
              </a:defRPr>
            </a:pPr>
            <a:r>
              <a:t>📦 scanner/__init__.py</a:t>
            </a:r>
            <a:br/>
            <a:r>
              <a:t>Re-exports scan functions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480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A5A7A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480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A5A7A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4480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A5A7A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1874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5A7A"/>
                </a:solidFill>
                <a:latin typeface="Calibri"/>
              </a:defRPr>
            </a:pPr>
            <a:r>
              <a:t>ORCHESTRATION LAYER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148840"/>
            <a:ext cx="2743200" cy="594360"/>
          </a:xfrm>
          <a:prstGeom prst="roundRect">
            <a:avLst>
              <a:gd name="adj" fmla="val 5000"/>
            </a:avLst>
          </a:prstGeom>
          <a:solidFill>
            <a:srgbClr val="0D0D20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4B5FD"/>
                </a:solidFill>
                <a:latin typeface="Calibri"/>
              </a:defRPr>
            </a:pPr>
            <a:r>
              <a:t>🧠 zombie_detector.py</a:t>
            </a:r>
            <a:br/>
            <a:r>
              <a:t>Runs all scanners, saves to DB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2148840"/>
            <a:ext cx="2286000" cy="594360"/>
          </a:xfrm>
          <a:prstGeom prst="roundRect">
            <a:avLst>
              <a:gd name="adj" fmla="val 5000"/>
            </a:avLst>
          </a:prstGeom>
          <a:solidFill>
            <a:srgbClr val="0D0D20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4B5FD"/>
                </a:solidFill>
                <a:latin typeface="Calibri"/>
              </a:defRPr>
            </a:pPr>
            <a:r>
              <a:t>▶️ run_scan.py</a:t>
            </a:r>
            <a:br/>
            <a:r>
              <a:t>CLI entry point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2148840"/>
            <a:ext cx="2286000" cy="594360"/>
          </a:xfrm>
          <a:prstGeom prst="roundRect">
            <a:avLst>
              <a:gd name="adj" fmla="val 5000"/>
            </a:avLst>
          </a:prstGeom>
          <a:solidFill>
            <a:srgbClr val="0D0D20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4B5FD"/>
                </a:solidFill>
                <a:latin typeface="Calibri"/>
              </a:defRPr>
            </a:pPr>
            <a:r>
              <a:t>⏰ scheduler.py</a:t>
            </a:r>
            <a:br/>
            <a:r>
              <a:t>Cron-like scheduling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2148840"/>
            <a:ext cx="2743200" cy="594360"/>
          </a:xfrm>
          <a:prstGeom prst="roundRect">
            <a:avLst>
              <a:gd name="adj" fmla="val 5000"/>
            </a:avLst>
          </a:prstGeom>
          <a:solidFill>
            <a:srgbClr val="0D0D20"/>
          </a:solidFill>
          <a:ln w="1270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4B4B"/>
                </a:solidFill>
                <a:latin typeface="Calibri"/>
              </a:defRPr>
            </a:pPr>
            <a:r>
              <a:t>🗑️ cleanup.py</a:t>
            </a:r>
            <a:br/>
            <a:r>
              <a:t>Terminate / delete resources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28346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A5A7A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8346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A5A7A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8346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A5A7A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960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A5A7A"/>
                </a:solidFill>
                <a:latin typeface="Calibri"/>
              </a:defRPr>
            </a:pPr>
            <a:r>
              <a:t>PRESENTATION LAYER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0" y="1188720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0D0D20"/>
          </a:solidFill>
          <a:ln w="1270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4B4B"/>
                </a:solidFill>
                <a:latin typeface="Calibri"/>
              </a:defRPr>
            </a:pPr>
            <a:r>
              <a:t>🌐 dashboard/app.py — Streamlit Web UI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1188720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0D0D20"/>
          </a:solidFill>
          <a:ln w="1270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4B4B"/>
                </a:solidFill>
                <a:latin typeface="Calibri"/>
              </a:defRPr>
            </a:pPr>
            <a:r>
              <a:t>🧩 dashboard/components.py — UI Widgets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1645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A5A7A"/>
                </a:solidFill>
                <a:latin typeface="Calibri"/>
              </a:defRPr>
            </a:pPr>
            <a:r>
              <a:t>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2F0"/>
                </a:solidFill>
                <a:latin typeface="Calibri"/>
              </a:defRPr>
            </a:pPr>
            <a:r>
              <a:t>🗃️ ER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7A"/>
                </a:solidFill>
                <a:latin typeface="Calibri"/>
              </a:defRPr>
            </a:pPr>
            <a:r>
              <a:t>Entity-Relationship: AWS resources (external) are scanned and stored in the local zombie_resources 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200400" cy="2194560"/>
          </a:xfrm>
          <a:prstGeom prst="roundRect">
            <a:avLst>
              <a:gd name="adj" fmla="val 5000"/>
            </a:avLst>
          </a:prstGeom>
          <a:solidFill>
            <a:srgbClr val="0D0D20"/>
          </a:solidFill>
          <a:ln w="12700">
            <a:solidFill>
              <a:srgbClr val="8BE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8BE9FD"/>
                </a:solidFill>
              </a:defRPr>
            </a:pPr>
            <a:r>
              <a:t>💻 AWS EC2 Instance</a:t>
            </a:r>
          </a:p>
          <a:p>
            <a:pPr algn="l">
              <a:defRPr sz="1000">
                <a:solidFill>
                  <a:srgbClr val="9D8FC0"/>
                </a:solidFill>
                <a:latin typeface="Consolas"/>
              </a:defRPr>
            </a:pPr>
            <a:r>
              <a:t>instance_id : TEXT (PK)</a:t>
            </a:r>
          </a:p>
          <a:p>
            <a:pPr algn="l">
              <a:defRPr sz="1000">
                <a:solidFill>
                  <a:srgbClr val="9D8FC0"/>
                </a:solidFill>
                <a:latin typeface="Consolas"/>
              </a:defRPr>
            </a:pPr>
            <a:r>
              <a:t>state : TEXT</a:t>
            </a:r>
          </a:p>
          <a:p>
            <a:pPr algn="l">
              <a:defRPr sz="1000">
                <a:solidFill>
                  <a:srgbClr val="9D8FC0"/>
                </a:solidFill>
                <a:latin typeface="Consolas"/>
              </a:defRPr>
            </a:pPr>
            <a:r>
              <a:t>cpu_utilization : REAL</a:t>
            </a:r>
          </a:p>
          <a:p>
            <a:pPr algn="l">
              <a:defRPr sz="1000">
                <a:solidFill>
                  <a:srgbClr val="9D8FC0"/>
                </a:solidFill>
                <a:latin typeface="Calibri"/>
              </a:defRPr>
            </a:pPr>
          </a:p>
          <a:p>
            <a:pPr algn="l">
              <a:defRPr sz="1000">
                <a:solidFill>
                  <a:srgbClr val="5A5A7A"/>
                </a:solidFill>
                <a:latin typeface="Calibri"/>
              </a:defRPr>
            </a:pPr>
            <a:r>
              <a:t>⚡ External — not stored locally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463040"/>
            <a:ext cx="3200400" cy="2194560"/>
          </a:xfrm>
          <a:prstGeom prst="roundRect">
            <a:avLst>
              <a:gd name="adj" fmla="val 5000"/>
            </a:avLst>
          </a:prstGeom>
          <a:solidFill>
            <a:srgbClr val="0D0D20"/>
          </a:solidFill>
          <a:ln w="12700">
            <a:solidFill>
              <a:srgbClr val="F1F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1FA8C"/>
                </a:solidFill>
              </a:defRPr>
            </a:pPr>
            <a:r>
              <a:t>💽 AWS EBS Volume</a:t>
            </a:r>
          </a:p>
          <a:p>
            <a:pPr algn="l">
              <a:defRPr sz="1000">
                <a:solidFill>
                  <a:srgbClr val="9D8FC0"/>
                </a:solidFill>
                <a:latin typeface="Consolas"/>
              </a:defRPr>
            </a:pPr>
            <a:r>
              <a:t>volume_id : TEXT (PK)</a:t>
            </a:r>
          </a:p>
          <a:p>
            <a:pPr algn="l">
              <a:defRPr sz="1000">
                <a:solidFill>
                  <a:srgbClr val="9D8FC0"/>
                </a:solidFill>
                <a:latin typeface="Consolas"/>
              </a:defRPr>
            </a:pPr>
            <a:r>
              <a:t>state : TEXT</a:t>
            </a:r>
          </a:p>
          <a:p>
            <a:pPr algn="l">
              <a:defRPr sz="1000">
                <a:solidFill>
                  <a:srgbClr val="9D8FC0"/>
                </a:solidFill>
                <a:latin typeface="Consolas"/>
              </a:defRPr>
            </a:pPr>
            <a:r>
              <a:t>size_gb : INTEGER</a:t>
            </a:r>
          </a:p>
          <a:p>
            <a:pPr algn="l">
              <a:defRPr sz="1000">
                <a:solidFill>
                  <a:srgbClr val="9D8FC0"/>
                </a:solidFill>
                <a:latin typeface="Consolas"/>
              </a:defRPr>
            </a:pPr>
            <a:r>
              <a:t>volume_type : TEXT</a:t>
            </a:r>
          </a:p>
          <a:p>
            <a:pPr algn="l">
              <a:defRPr sz="1000">
                <a:solidFill>
                  <a:srgbClr val="5A5A7A"/>
                </a:solidFill>
                <a:latin typeface="Calibri"/>
              </a:defRPr>
            </a:pPr>
            <a:r>
              <a:t>⚡ External — not stored locally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463040"/>
            <a:ext cx="3200400" cy="2194560"/>
          </a:xfrm>
          <a:prstGeom prst="roundRect">
            <a:avLst>
              <a:gd name="adj" fmla="val 5000"/>
            </a:avLst>
          </a:prstGeom>
          <a:solidFill>
            <a:srgbClr val="0D0D20"/>
          </a:solidFill>
          <a:ln w="12700">
            <a:solidFill>
              <a:srgbClr val="C56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C56CF0"/>
                </a:solidFill>
              </a:defRPr>
            </a:pPr>
            <a:r>
              <a:t>📸 AWS EBS Snapshot</a:t>
            </a:r>
          </a:p>
          <a:p>
            <a:pPr algn="l">
              <a:defRPr sz="1000">
                <a:solidFill>
                  <a:srgbClr val="9D8FC0"/>
                </a:solidFill>
                <a:latin typeface="Consolas"/>
              </a:defRPr>
            </a:pPr>
            <a:r>
              <a:t>snapshot_id : TEXT (PK)</a:t>
            </a:r>
          </a:p>
          <a:p>
            <a:pPr algn="l">
              <a:defRPr sz="1000">
                <a:solidFill>
                  <a:srgbClr val="9D8FC0"/>
                </a:solidFill>
                <a:latin typeface="Consolas"/>
              </a:defRPr>
            </a:pPr>
            <a:r>
              <a:t>start_time : DATETIME</a:t>
            </a:r>
          </a:p>
          <a:p>
            <a:pPr algn="l">
              <a:defRPr sz="1000">
                <a:solidFill>
                  <a:srgbClr val="9D8FC0"/>
                </a:solidFill>
                <a:latin typeface="Consolas"/>
              </a:defRPr>
            </a:pPr>
            <a:r>
              <a:t>volume_size : INTEGER</a:t>
            </a:r>
          </a:p>
          <a:p>
            <a:pPr algn="l">
              <a:defRPr sz="1000">
                <a:solidFill>
                  <a:srgbClr val="9D8FC0"/>
                </a:solidFill>
                <a:latin typeface="Calibri"/>
              </a:defRPr>
            </a:pPr>
          </a:p>
          <a:p>
            <a:pPr algn="l">
              <a:defRPr sz="1000">
                <a:solidFill>
                  <a:srgbClr val="5A5A7A"/>
                </a:solidFill>
                <a:latin typeface="Calibri"/>
              </a:defRPr>
            </a:pPr>
            <a:r>
              <a:t>⚡ External — not stored locally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703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47FF"/>
                </a:solidFill>
                <a:latin typeface="Calibri"/>
              </a:defRPr>
            </a:pPr>
            <a:r>
              <a:t>   ↓ scanned 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3703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47FF"/>
                </a:solidFill>
                <a:latin typeface="Calibri"/>
              </a:defRPr>
            </a:pPr>
            <a:r>
              <a:t>   ↓ scanned 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3703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47FF"/>
                </a:solidFill>
                <a:latin typeface="Calibri"/>
              </a:defRPr>
            </a:pPr>
            <a:r>
              <a:t>   ↓ scanned 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297680"/>
            <a:ext cx="9418320" cy="2286000"/>
          </a:xfrm>
          <a:prstGeom prst="roundRect">
            <a:avLst>
              <a:gd name="adj" fmla="val 5000"/>
            </a:avLst>
          </a:prstGeom>
          <a:solidFill>
            <a:srgbClr val="0D0D20"/>
          </a:solidFill>
          <a:ln w="12700">
            <a:solidFill>
              <a:srgbClr val="6C4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4B5FD"/>
                </a:solidFill>
              </a:defRPr>
            </a:pPr>
            <a:r>
              <a:t>💾 zombie_resources (SQLite Table)</a:t>
            </a:r>
          </a:p>
          <a:p>
            <a:pPr algn="l">
              <a:defRPr sz="1000">
                <a:solidFill>
                  <a:srgbClr val="E2E2F0"/>
                </a:solidFill>
                <a:latin typeface="Consolas"/>
              </a:defRPr>
            </a:pPr>
            <a:r>
              <a:t>  id                 INTEGER    PRIMARY KEY AUTOINCREMENT</a:t>
            </a:r>
          </a:p>
          <a:p>
            <a:pPr algn="l">
              <a:defRPr sz="1000">
                <a:solidFill>
                  <a:srgbClr val="E2E2F0"/>
                </a:solidFill>
                <a:latin typeface="Consolas"/>
              </a:defRPr>
            </a:pPr>
            <a:r>
              <a:t>  resource_id        TEXT       NOT NULL — AWS resource ID</a:t>
            </a:r>
          </a:p>
          <a:p>
            <a:pPr algn="l">
              <a:defRPr sz="1000">
                <a:solidFill>
                  <a:srgbClr val="E2E2F0"/>
                </a:solidFill>
                <a:latin typeface="Consolas"/>
              </a:defRPr>
            </a:pPr>
            <a:r>
              <a:t>  resource_type      TEXT       NOT NULL — EC2 | EBS | Snapshot</a:t>
            </a:r>
          </a:p>
          <a:p>
            <a:pPr algn="l">
              <a:defRPr sz="1000">
                <a:solidFill>
                  <a:srgbClr val="E2E2F0"/>
                </a:solidFill>
                <a:latin typeface="Consolas"/>
              </a:defRPr>
            </a:pPr>
            <a:r>
              <a:t>  region             TEXT       NOT NULL — e.g. us-east-1</a:t>
            </a:r>
          </a:p>
          <a:p>
            <a:pPr algn="l">
              <a:defRPr sz="1000">
                <a:solidFill>
                  <a:srgbClr val="E2E2F0"/>
                </a:solidFill>
                <a:latin typeface="Consolas"/>
              </a:defRPr>
            </a:pPr>
            <a:r>
              <a:t>  utilization        REAL       DEFAULT 0.0 — CPU % for EC2</a:t>
            </a:r>
          </a:p>
          <a:p>
            <a:pPr algn="l">
              <a:defRPr sz="1000">
                <a:solidFill>
                  <a:srgbClr val="E2E2F0"/>
                </a:solidFill>
                <a:latin typeface="Consolas"/>
              </a:defRPr>
            </a:pPr>
            <a:r>
              <a:t>  status             TEXT       NOT NULL — Zombie | Active</a:t>
            </a:r>
          </a:p>
          <a:p>
            <a:pPr algn="l">
              <a:defRPr sz="1000">
                <a:solidFill>
                  <a:srgbClr val="E2E2F0"/>
                </a:solidFill>
                <a:latin typeface="Consolas"/>
              </a:defRPr>
            </a:pPr>
            <a:r>
              <a:t>  reason             TEXT       Nullable — detection explanation</a:t>
            </a:r>
          </a:p>
          <a:p>
            <a:pPr algn="l">
              <a:defRPr sz="1000">
                <a:solidFill>
                  <a:srgbClr val="E2E2F0"/>
                </a:solidFill>
                <a:latin typeface="Consolas"/>
              </a:defRPr>
            </a:pPr>
            <a:r>
              <a:t>  detected_at        TEXT       NOT NULL — ISO-8601 timestamp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2F0"/>
                </a:solidFill>
                <a:latin typeface="Calibri"/>
              </a:defRPr>
            </a:pPr>
            <a:r>
              <a:t>📋 Table Design — zombie_resources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7A"/>
                </a:solidFill>
                <a:latin typeface="Calibri"/>
              </a:defRPr>
            </a:pPr>
            <a:r>
              <a:t>Complete schema definition, SQL DDL, and key queries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11430000" cy="411480"/>
          </a:xfrm>
          <a:prstGeom prst="roundRect">
            <a:avLst>
              <a:gd name="adj" fmla="val 5000"/>
            </a:avLst>
          </a:prstGeom>
          <a:solidFill>
            <a:srgbClr val="101028"/>
          </a:solidFill>
          <a:ln w="12700">
            <a:solidFill>
              <a:srgbClr val="6C4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4B5FD"/>
                </a:solidFill>
                <a:latin typeface="Calibri"/>
              </a:defRPr>
            </a:pPr>
            <a:r>
              <a:t>#     Column                Type          Constraints                              Description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828800"/>
            <a:ext cx="11430000" cy="329184"/>
          </a:xfrm>
          <a:prstGeom prst="roundRect">
            <a:avLst>
              <a:gd name="adj" fmla="val 5000"/>
            </a:avLst>
          </a:prstGeom>
          <a:solidFill>
            <a:srgbClr val="0A0A1A"/>
          </a:solidFill>
          <a:ln w="12700">
            <a:solidFill>
              <a:srgbClr val="1A1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E2E2F0"/>
                </a:solidFill>
                <a:latin typeface="Calibri"/>
              </a:defRPr>
            </a:pPr>
            <a:r>
              <a:t>1     id                 INTEGER       PK AUTOINCREMENT                Unique row identifier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176272"/>
            <a:ext cx="11430000" cy="329184"/>
          </a:xfrm>
          <a:prstGeom prst="roundRect">
            <a:avLst>
              <a:gd name="adj" fmla="val 5000"/>
            </a:avLst>
          </a:prstGeom>
          <a:solidFill>
            <a:srgbClr val="0D0D20"/>
          </a:solidFill>
          <a:ln w="12700">
            <a:solidFill>
              <a:srgbClr val="1A1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E2E2F0"/>
                </a:solidFill>
                <a:latin typeface="Calibri"/>
              </a:defRPr>
            </a:pPr>
            <a:r>
              <a:t>2     resource_id        TEXT          NOT NULL                        AWS resource ID (i-xxx, vol-xxx)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523744"/>
            <a:ext cx="11430000" cy="329184"/>
          </a:xfrm>
          <a:prstGeom prst="roundRect">
            <a:avLst>
              <a:gd name="adj" fmla="val 5000"/>
            </a:avLst>
          </a:prstGeom>
          <a:solidFill>
            <a:srgbClr val="0A0A1A"/>
          </a:solidFill>
          <a:ln w="12700">
            <a:solidFill>
              <a:srgbClr val="1A1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E2E2F0"/>
                </a:solidFill>
                <a:latin typeface="Calibri"/>
              </a:defRPr>
            </a:pPr>
            <a:r>
              <a:t>3     resource_type      TEXT          NOT NULL                        EC2 | EBS | Snapshot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871216"/>
            <a:ext cx="11430000" cy="329184"/>
          </a:xfrm>
          <a:prstGeom prst="roundRect">
            <a:avLst>
              <a:gd name="adj" fmla="val 5000"/>
            </a:avLst>
          </a:prstGeom>
          <a:solidFill>
            <a:srgbClr val="0D0D20"/>
          </a:solidFill>
          <a:ln w="12700">
            <a:solidFill>
              <a:srgbClr val="1A1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E2E2F0"/>
                </a:solidFill>
                <a:latin typeface="Calibri"/>
              </a:defRPr>
            </a:pPr>
            <a:r>
              <a:t>4     region             TEXT          NOT NULL                        AWS region name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218688"/>
            <a:ext cx="11430000" cy="329184"/>
          </a:xfrm>
          <a:prstGeom prst="roundRect">
            <a:avLst>
              <a:gd name="adj" fmla="val 5000"/>
            </a:avLst>
          </a:prstGeom>
          <a:solidFill>
            <a:srgbClr val="0A0A1A"/>
          </a:solidFill>
          <a:ln w="12700">
            <a:solidFill>
              <a:srgbClr val="1A1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E2E2F0"/>
                </a:solidFill>
                <a:latin typeface="Calibri"/>
              </a:defRPr>
            </a:pPr>
            <a:r>
              <a:t>5     utilization        REAL          DEFAULT 0.0                     CPU% for EC2; 0/100 for others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566160"/>
            <a:ext cx="11430000" cy="329184"/>
          </a:xfrm>
          <a:prstGeom prst="roundRect">
            <a:avLst>
              <a:gd name="adj" fmla="val 5000"/>
            </a:avLst>
          </a:prstGeom>
          <a:solidFill>
            <a:srgbClr val="0D0D20"/>
          </a:solidFill>
          <a:ln w="12700">
            <a:solidFill>
              <a:srgbClr val="1A1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E2E2F0"/>
                </a:solidFill>
                <a:latin typeface="Calibri"/>
              </a:defRPr>
            </a:pPr>
            <a:r>
              <a:t>6     status             TEXT          NOT NULL DEFAULT 'Unknown'      Zombie | Active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913632"/>
            <a:ext cx="11430000" cy="329184"/>
          </a:xfrm>
          <a:prstGeom prst="roundRect">
            <a:avLst>
              <a:gd name="adj" fmla="val 5000"/>
            </a:avLst>
          </a:prstGeom>
          <a:solidFill>
            <a:srgbClr val="0A0A1A"/>
          </a:solidFill>
          <a:ln w="12700">
            <a:solidFill>
              <a:srgbClr val="1A1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E2E2F0"/>
                </a:solidFill>
                <a:latin typeface="Calibri"/>
              </a:defRPr>
            </a:pPr>
            <a:r>
              <a:t>7     reason             TEXT          (nullable)                      Human-readable explanation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261104"/>
            <a:ext cx="11430000" cy="329184"/>
          </a:xfrm>
          <a:prstGeom prst="roundRect">
            <a:avLst>
              <a:gd name="adj" fmla="val 5000"/>
            </a:avLst>
          </a:prstGeom>
          <a:solidFill>
            <a:srgbClr val="0D0D20"/>
          </a:solidFill>
          <a:ln w="12700">
            <a:solidFill>
              <a:srgbClr val="1A1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E2E2F0"/>
                </a:solidFill>
                <a:latin typeface="Calibri"/>
              </a:defRPr>
            </a:pPr>
            <a:r>
              <a:t>8     detected_at        TEXT          NOT NULL                        ISO-8601 UTC timestamp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89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B5FD"/>
                </a:solidFill>
                <a:latin typeface="Calibri"/>
              </a:defRPr>
            </a:pPr>
            <a:r>
              <a:t>🔑 Key SQL Queries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846320"/>
            <a:ext cx="11247120" cy="329184"/>
          </a:xfrm>
          <a:prstGeom prst="roundRect">
            <a:avLst>
              <a:gd name="adj" fmla="val 5000"/>
            </a:avLst>
          </a:prstGeom>
          <a:solidFill>
            <a:srgbClr val="0A0A1A"/>
          </a:solidFill>
          <a:ln w="12700">
            <a:solidFill>
              <a:srgbClr val="21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E2E2F0"/>
                </a:solidFill>
                <a:latin typeface="Calibri"/>
              </a:defRPr>
            </a:pPr>
            <a:r>
              <a:t>save_resource()              →   INSERT OR REPLACE INTO zombie_resources (...) VALUES (...)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212080"/>
            <a:ext cx="11247120" cy="329184"/>
          </a:xfrm>
          <a:prstGeom prst="roundRect">
            <a:avLst>
              <a:gd name="adj" fmla="val 5000"/>
            </a:avLst>
          </a:prstGeom>
          <a:solidFill>
            <a:srgbClr val="0A0A1A"/>
          </a:solidFill>
          <a:ln w="12700">
            <a:solidFill>
              <a:srgbClr val="8BE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E2E2F0"/>
                </a:solidFill>
                <a:latin typeface="Calibri"/>
              </a:defRPr>
            </a:pPr>
            <a:r>
              <a:t>get_all_resources()          →   SELECT * FROM zombie_resources ORDER BY detected_at DESC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577840"/>
            <a:ext cx="11247120" cy="329184"/>
          </a:xfrm>
          <a:prstGeom prst="roundRect">
            <a:avLst>
              <a:gd name="adj" fmla="val 5000"/>
            </a:avLst>
          </a:prstGeom>
          <a:solidFill>
            <a:srgbClr val="0A0A1A"/>
          </a:solidFill>
          <a:ln w="12700">
            <a:solidFill>
              <a:srgbClr val="21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E2E2F0"/>
                </a:solidFill>
                <a:latin typeface="Calibri"/>
              </a:defRPr>
            </a:pPr>
            <a:r>
              <a:t>get_zombie_resources()       →   SELECT * ... WHERE status = 'Zombie' ORDER BY detected_at DESC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1247120" cy="329184"/>
          </a:xfrm>
          <a:prstGeom prst="roundRect">
            <a:avLst>
              <a:gd name="adj" fmla="val 5000"/>
            </a:avLst>
          </a:prstGeom>
          <a:solidFill>
            <a:srgbClr val="0A0A1A"/>
          </a:solidFill>
          <a:ln w="12700">
            <a:solidFill>
              <a:srgbClr val="8BE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E2E2F0"/>
                </a:solidFill>
                <a:latin typeface="Calibri"/>
              </a:defRPr>
            </a:pPr>
            <a:r>
              <a:t>get_summary_stats()          →   SELECT resource_type, status, COUNT(*) GROUP BY resource_type, status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6309360"/>
            <a:ext cx="11247120" cy="329184"/>
          </a:xfrm>
          <a:prstGeom prst="roundRect">
            <a:avLst>
              <a:gd name="adj" fmla="val 5000"/>
            </a:avLst>
          </a:prstGeom>
          <a:solidFill>
            <a:srgbClr val="0A0A1A"/>
          </a:solidFill>
          <a:ln w="12700">
            <a:solidFill>
              <a:srgbClr val="21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E2E2F0"/>
                </a:solidFill>
                <a:latin typeface="Calibri"/>
              </a:defRPr>
            </a:pPr>
            <a:r>
              <a:t>delete_resource(id)          →   DELETE FROM zombie_resources WHERE resource_id =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6675120"/>
            <a:ext cx="11247120" cy="329184"/>
          </a:xfrm>
          <a:prstGeom prst="roundRect">
            <a:avLst>
              <a:gd name="adj" fmla="val 5000"/>
            </a:avLst>
          </a:prstGeom>
          <a:solidFill>
            <a:srgbClr val="0A0A1A"/>
          </a:solidFill>
          <a:ln w="12700">
            <a:solidFill>
              <a:srgbClr val="8BE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E2E2F0"/>
                </a:solidFill>
                <a:latin typeface="Calibri"/>
              </a:defRPr>
            </a:pPr>
            <a:r>
              <a:t>clear_resources()            →   DELETE FROM zombie_resources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2F0"/>
                </a:solidFill>
                <a:latin typeface="Calibri"/>
              </a:defRPr>
            </a:pPr>
            <a:r>
              <a:t>🧟 Zombie Detection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7A"/>
                </a:solidFill>
                <a:latin typeface="Calibri"/>
              </a:defRPr>
            </a:pPr>
            <a:r>
              <a:t>How each resource type is classified as Zombie or Active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0D0D20"/>
          </a:solidFill>
          <a:ln w="12700">
            <a:solidFill>
              <a:srgbClr val="8BE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8BE9FD"/>
                </a:solidFill>
              </a:defRPr>
            </a:pPr>
            <a:r>
              <a:t>💻 EC2 Instances</a:t>
            </a:r>
          </a:p>
          <a:p>
            <a:pPr algn="ctr">
              <a:defRPr sz="1100">
                <a:solidFill>
                  <a:srgbClr val="E2E2F0"/>
                </a:solidFill>
              </a:defRPr>
            </a:pPr>
          </a:p>
          <a:p>
            <a:pPr algn="ctr">
              <a:defRPr sz="1100">
                <a:solidFill>
                  <a:srgbClr val="5A5A7A"/>
                </a:solidFill>
              </a:defRPr>
            </a:pPr>
            <a:r>
              <a:t>Detection Method:</a:t>
            </a:r>
          </a:p>
          <a:p>
            <a:pPr algn="ctr">
              <a:defRPr sz="1100">
                <a:solidFill>
                  <a:srgbClr val="E2E2F0"/>
                </a:solidFill>
              </a:defRPr>
            </a:pPr>
            <a:r>
              <a:t>CloudWatch CPUUtilization</a:t>
            </a:r>
          </a:p>
          <a:p>
            <a:pPr algn="ctr">
              <a:defRPr sz="1100">
                <a:solidFill>
                  <a:srgbClr val="E2E2F0"/>
                </a:solidFill>
              </a:defRPr>
            </a:pPr>
            <a:r>
              <a:t>averaged over 7 days</a:t>
            </a:r>
          </a:p>
          <a:p>
            <a:pPr algn="ctr">
              <a:defRPr sz="1100">
                <a:solidFill>
                  <a:srgbClr val="E2E2F0"/>
                </a:solidFill>
              </a:defRPr>
            </a:pPr>
          </a:p>
          <a:p>
            <a:pPr algn="ctr">
              <a:defRPr sz="1100">
                <a:solidFill>
                  <a:srgbClr val="5A5A7A"/>
                </a:solidFill>
              </a:defRPr>
            </a:pPr>
            <a:r>
              <a:t>Zombie Threshold:</a:t>
            </a:r>
          </a:p>
          <a:p>
            <a:pPr algn="ctr">
              <a:defRPr sz="1100">
                <a:solidFill>
                  <a:srgbClr val="FF4B4B"/>
                </a:solidFill>
              </a:defRPr>
            </a:pPr>
            <a:r>
              <a:t>Average CPU &lt; 1%</a:t>
            </a:r>
          </a:p>
          <a:p>
            <a:pPr algn="ctr">
              <a:defRPr sz="1100">
                <a:solidFill>
                  <a:srgbClr val="E2E2F0"/>
                </a:solidFill>
              </a:defRPr>
            </a:pPr>
          </a:p>
          <a:p>
            <a:pPr algn="ctr">
              <a:defRPr sz="1100">
                <a:solidFill>
                  <a:srgbClr val="5A5A7A"/>
                </a:solidFill>
              </a:defRPr>
            </a:pPr>
            <a:r>
              <a:t>Utilization Value:</a:t>
            </a:r>
          </a:p>
          <a:p>
            <a:pPr algn="ctr">
              <a:defRPr sz="1100">
                <a:solidFill>
                  <a:srgbClr val="E2E2F0"/>
                </a:solidFill>
              </a:defRPr>
            </a:pPr>
            <a:r>
              <a:t>Actual CPU percentage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0D0D20"/>
          </a:solidFill>
          <a:ln w="12700">
            <a:solidFill>
              <a:srgbClr val="F1F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1FA8C"/>
                </a:solidFill>
              </a:defRPr>
            </a:pPr>
            <a:r>
              <a:t>💽 EBS Volumes</a:t>
            </a:r>
          </a:p>
          <a:p>
            <a:pPr algn="ctr">
              <a:defRPr sz="1100">
                <a:solidFill>
                  <a:srgbClr val="E2E2F0"/>
                </a:solidFill>
              </a:defRPr>
            </a:pPr>
          </a:p>
          <a:p>
            <a:pPr algn="ctr">
              <a:defRPr sz="1100">
                <a:solidFill>
                  <a:srgbClr val="5A5A7A"/>
                </a:solidFill>
              </a:defRPr>
            </a:pPr>
            <a:r>
              <a:t>Detection Method:</a:t>
            </a:r>
          </a:p>
          <a:p>
            <a:pPr algn="ctr">
              <a:defRPr sz="1100">
                <a:solidFill>
                  <a:srgbClr val="E2E2F0"/>
                </a:solidFill>
              </a:defRPr>
            </a:pPr>
            <a:r>
              <a:t>Check Volume State</a:t>
            </a:r>
          </a:p>
          <a:p>
            <a:pPr algn="ctr">
              <a:defRPr sz="1100">
                <a:solidFill>
                  <a:srgbClr val="E2E2F0"/>
                </a:solidFill>
              </a:defRPr>
            </a:pPr>
            <a:r>
              <a:t>via DescribeVolumes API</a:t>
            </a:r>
          </a:p>
          <a:p>
            <a:pPr algn="ctr">
              <a:defRPr sz="1100">
                <a:solidFill>
                  <a:srgbClr val="E2E2F0"/>
                </a:solidFill>
              </a:defRPr>
            </a:pPr>
          </a:p>
          <a:p>
            <a:pPr algn="ctr">
              <a:defRPr sz="1100">
                <a:solidFill>
                  <a:srgbClr val="5A5A7A"/>
                </a:solidFill>
              </a:defRPr>
            </a:pPr>
            <a:r>
              <a:t>Zombie Threshold:</a:t>
            </a:r>
          </a:p>
          <a:p>
            <a:pPr algn="ctr">
              <a:defRPr sz="1100">
                <a:solidFill>
                  <a:srgbClr val="FF4B4B"/>
                </a:solidFill>
              </a:defRPr>
            </a:pPr>
            <a:r>
              <a:t>State = 'available' (unattached)</a:t>
            </a:r>
          </a:p>
          <a:p>
            <a:pPr algn="ctr">
              <a:defRPr sz="1100">
                <a:solidFill>
                  <a:srgbClr val="E2E2F0"/>
                </a:solidFill>
              </a:defRPr>
            </a:pPr>
          </a:p>
          <a:p>
            <a:pPr algn="ctr">
              <a:defRPr sz="1100">
                <a:solidFill>
                  <a:srgbClr val="5A5A7A"/>
                </a:solidFill>
              </a:defRPr>
            </a:pPr>
            <a:r>
              <a:t>Utilization Value:</a:t>
            </a:r>
          </a:p>
          <a:p>
            <a:pPr algn="ctr">
              <a:defRPr sz="1100">
                <a:solidFill>
                  <a:srgbClr val="E2E2F0"/>
                </a:solidFill>
              </a:defRPr>
            </a:pPr>
            <a:r>
              <a:t>0.0 (zombie) / 100.0 (active)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46304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0D0D20"/>
          </a:solidFill>
          <a:ln w="12700">
            <a:solidFill>
              <a:srgbClr val="C56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C56CF0"/>
                </a:solidFill>
              </a:defRPr>
            </a:pPr>
            <a:r>
              <a:t>📸 EBS Snapshots</a:t>
            </a:r>
          </a:p>
          <a:p>
            <a:pPr algn="ctr">
              <a:defRPr sz="1100">
                <a:solidFill>
                  <a:srgbClr val="E2E2F0"/>
                </a:solidFill>
              </a:defRPr>
            </a:pPr>
          </a:p>
          <a:p>
            <a:pPr algn="ctr">
              <a:defRPr sz="1100">
                <a:solidFill>
                  <a:srgbClr val="5A5A7A"/>
                </a:solidFill>
              </a:defRPr>
            </a:pPr>
            <a:r>
              <a:t>Detection Method:</a:t>
            </a:r>
          </a:p>
          <a:p>
            <a:pPr algn="ctr">
              <a:defRPr sz="1100">
                <a:solidFill>
                  <a:srgbClr val="E2E2F0"/>
                </a:solidFill>
              </a:defRPr>
            </a:pPr>
            <a:r>
              <a:t>Check snapshot age</a:t>
            </a:r>
          </a:p>
          <a:p>
            <a:pPr algn="ctr">
              <a:defRPr sz="1100">
                <a:solidFill>
                  <a:srgbClr val="E2E2F0"/>
                </a:solidFill>
              </a:defRPr>
            </a:pPr>
            <a:r>
              <a:t>from StartTime field</a:t>
            </a:r>
          </a:p>
          <a:p>
            <a:pPr algn="ctr">
              <a:defRPr sz="1100">
                <a:solidFill>
                  <a:srgbClr val="E2E2F0"/>
                </a:solidFill>
              </a:defRPr>
            </a:pPr>
          </a:p>
          <a:p>
            <a:pPr algn="ctr">
              <a:defRPr sz="1100">
                <a:solidFill>
                  <a:srgbClr val="5A5A7A"/>
                </a:solidFill>
              </a:defRPr>
            </a:pPr>
            <a:r>
              <a:t>Zombie Threshold:</a:t>
            </a:r>
          </a:p>
          <a:p>
            <a:pPr algn="ctr">
              <a:defRPr sz="1100">
                <a:solidFill>
                  <a:srgbClr val="FF4B4B"/>
                </a:solidFill>
              </a:defRPr>
            </a:pPr>
            <a:r>
              <a:t>Age &gt; 30 days</a:t>
            </a:r>
          </a:p>
          <a:p>
            <a:pPr algn="ctr">
              <a:defRPr sz="1100">
                <a:solidFill>
                  <a:srgbClr val="E2E2F0"/>
                </a:solidFill>
              </a:defRPr>
            </a:pPr>
          </a:p>
          <a:p>
            <a:pPr algn="ctr">
              <a:defRPr sz="1100">
                <a:solidFill>
                  <a:srgbClr val="5A5A7A"/>
                </a:solidFill>
              </a:defRPr>
            </a:pPr>
            <a:r>
              <a:t>Utilization Value:</a:t>
            </a:r>
          </a:p>
          <a:p>
            <a:pPr algn="ctr">
              <a:defRPr sz="1100">
                <a:solidFill>
                  <a:srgbClr val="E2E2F0"/>
                </a:solidFill>
              </a:defRPr>
            </a:pPr>
            <a:r>
              <a:t>0.0 (zombie) / 100.0 (active)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5A7A"/>
                </a:solidFill>
                <a:latin typeface="Calibri"/>
              </a:defRPr>
            </a:pPr>
            <a:r>
              <a:t>💡 All thresholds are configurable via .env environment variables (EC2_CPU_ZOMBIE_THRESHOLD, SNAPSHOT_AGE_DAYS, CLOUDWATCH_DAYS)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0" y="6803136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